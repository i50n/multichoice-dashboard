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E2001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E2001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9436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2001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94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 Xperiences  ·  Multichoice / NMS Outbound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NMS Campaign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9436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19 Working Days  ·  598,228 Unique Leads Worked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6126480"/>
            <a:ext cx="10881360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review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campaign performance at a glance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542032" cy="64008"/>
          </a:xfrm>
          <a:prstGeom prst="roundRect">
            <a:avLst/>
          </a:prstGeom>
          <a:solidFill>
            <a:srgbClr val="E2001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2199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LEADS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598,228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49808" y="29535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across 19 days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50876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19272" y="1508760"/>
            <a:ext cx="2542032" cy="64008"/>
          </a:xfrm>
          <a:prstGeom prst="round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7373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22199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CONTACT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520440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172,491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3520440" y="29535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contact rate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150876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1508760"/>
            <a:ext cx="2542032" cy="64008"/>
          </a:xfrm>
          <a:prstGeom prst="roundRect">
            <a:avLst/>
          </a:prstGeom>
          <a:solidFill>
            <a:srgbClr val="8B5CF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373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1072" y="222199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91072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109,486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291072" y="29535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 of contacts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60536" y="1508760"/>
            <a:ext cx="2542032" cy="1783080"/>
          </a:xfrm>
          <a:prstGeom prst="roundRect">
            <a:avLst>
              <a:gd name="adj" fmla="val 3077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860536" y="1508760"/>
            <a:ext cx="2542032" cy="64008"/>
          </a:xfrm>
          <a:prstGeom prst="roundRect">
            <a:avLst/>
          </a:prstGeom>
          <a:solidFill>
            <a:srgbClr val="22C55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17373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61704" y="222199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9061704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7,057</a:t>
            </a:r>
            <a:endParaRPr lang="en-US" sz="2600" dirty="0"/>
          </a:p>
        </p:txBody>
      </p:sp>
      <p:sp>
        <p:nvSpPr>
          <p:cNvPr id="27" name="Text 21"/>
          <p:cNvSpPr/>
          <p:nvPr/>
        </p:nvSpPr>
        <p:spPr>
          <a:xfrm>
            <a:off x="9061704" y="2953512"/>
            <a:ext cx="2176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conversion of RPC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48640" y="365760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D212B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22960" y="384048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WORKED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822960" y="409651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500" dirty="0"/>
          </a:p>
        </p:txBody>
      </p:sp>
      <p:sp>
        <p:nvSpPr>
          <p:cNvPr id="31" name="Text 25"/>
          <p:cNvSpPr/>
          <p:nvPr/>
        </p:nvSpPr>
        <p:spPr>
          <a:xfrm>
            <a:off x="822960" y="461772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weekdays + 2 Saturdays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68980" y="3886200"/>
            <a:ext cx="0" cy="96012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543300" y="384048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RATE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3543300" y="409651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3543300" y="461772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dial attempts per lead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989320" y="3886200"/>
            <a:ext cx="0" cy="96012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263640" y="384048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AGENTS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6263640" y="409651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2500" dirty="0"/>
          </a:p>
        </p:txBody>
      </p:sp>
      <p:sp>
        <p:nvSpPr>
          <p:cNvPr id="39" name="Text 33"/>
          <p:cNvSpPr/>
          <p:nvPr/>
        </p:nvSpPr>
        <p:spPr>
          <a:xfrm>
            <a:off x="6263640" y="461772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leads worked (of 139 tracked)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8709660" y="3886200"/>
            <a:ext cx="0" cy="96012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983980" y="3840480"/>
            <a:ext cx="2263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QUAL. AGENT CONV.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8983980" y="4096512"/>
            <a:ext cx="2263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3.52%</a:t>
            </a:r>
            <a:endParaRPr lang="en-US" sz="2500" dirty="0"/>
          </a:p>
        </p:txBody>
      </p:sp>
      <p:sp>
        <p:nvSpPr>
          <p:cNvPr id="43" name="Text 37"/>
          <p:cNvSpPr/>
          <p:nvPr/>
        </p:nvSpPr>
        <p:spPr>
          <a:xfrm>
            <a:off x="8983980" y="4617720"/>
            <a:ext cx="23088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4,785 sales / 135,778 leads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NMSIS_Report.xlsx · NMS_Leads_Analysis_May_2026.xlsx — Waterfall Snapshot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Lead-to-Sale Waterfall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campaigns combined — May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9928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Leads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377440" y="1673352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1673352"/>
            <a:ext cx="1542489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542032" y="16733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598,228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511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Calls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377440" y="251460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2514600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2542032" y="2514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2,695,221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0" y="255117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450.5% of prior stage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Contact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377440" y="3355848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/>
        </p:spPr>
      </p:sp>
      <p:sp>
        <p:nvSpPr>
          <p:cNvPr id="15" name="Shape 13"/>
          <p:cNvSpPr/>
          <p:nvPr/>
        </p:nvSpPr>
        <p:spPr>
          <a:xfrm>
            <a:off x="2377440" y="3355848"/>
            <a:ext cx="444756" cy="457200"/>
          </a:xfrm>
          <a:prstGeom prst="roundRect">
            <a:avLst>
              <a:gd name="adj" fmla="val 8224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542032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172,491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509760" y="339242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of prior stage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23367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(Cust. Ans.)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377440" y="4197096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/>
        </p:spPr>
      </p:sp>
      <p:sp>
        <p:nvSpPr>
          <p:cNvPr id="20" name="Shape 18"/>
          <p:cNvSpPr/>
          <p:nvPr/>
        </p:nvSpPr>
        <p:spPr>
          <a:xfrm>
            <a:off x="2377440" y="4197096"/>
            <a:ext cx="320040" cy="457200"/>
          </a:xfrm>
          <a:prstGeom prst="roundRect">
            <a:avLst>
              <a:gd name="adj" fmla="val 11429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2542032" y="4197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109,486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 of prior stage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5038344"/>
            <a:ext cx="6949440" cy="457200"/>
          </a:xfrm>
          <a:prstGeom prst="roundRect">
            <a:avLst>
              <a:gd name="adj" fmla="val 8000"/>
            </a:avLst>
          </a:prstGeom>
          <a:solidFill>
            <a:srgbClr val="171A21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7440" y="5038344"/>
            <a:ext cx="320040" cy="457200"/>
          </a:xfrm>
          <a:prstGeom prst="roundRect">
            <a:avLst>
              <a:gd name="adj" fmla="val 11429"/>
            </a:avLst>
          </a:prstGeom>
          <a:solidFill>
            <a:srgbClr val="E2001A"/>
          </a:solidFill>
          <a:ln/>
        </p:spPr>
      </p:sp>
      <p:sp>
        <p:nvSpPr>
          <p:cNvPr id="26" name="Text 24"/>
          <p:cNvSpPr/>
          <p:nvPr/>
        </p:nvSpPr>
        <p:spPr>
          <a:xfrm>
            <a:off x="2542032" y="50383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7,057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of prior stage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5806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Attempted Calls exceeds Unique Leads because each lead is dialled multiple times (avg. 4.50 attempts per lead — see spin rate).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leak: only 28.8% of leads were ever successfully contacted — the largest single drop-off in the funnel.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Type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vs. Device Insurance / Non-Life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583680" cy="173736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914400"/>
                <a:gridCol w="914400"/>
                <a:gridCol w="118872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392,074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111,420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70,240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Non-Life (DI)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7C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A2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435,092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122,416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76,379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12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by Campaign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452360" y="20116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9052560" y="2039112"/>
            <a:ext cx="1691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8" name="Shape 5"/>
          <p:cNvSpPr/>
          <p:nvPr/>
        </p:nvSpPr>
        <p:spPr>
          <a:xfrm>
            <a:off x="9052560" y="2039112"/>
            <a:ext cx="1691640" cy="237744"/>
          </a:xfrm>
          <a:prstGeom prst="roundRect">
            <a:avLst>
              <a:gd name="adj" fmla="val 11538"/>
            </a:avLst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1083564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367,878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4523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Insurance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052560" y="2542032"/>
            <a:ext cx="1691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12" name="Shape 9"/>
          <p:cNvSpPr/>
          <p:nvPr/>
        </p:nvSpPr>
        <p:spPr>
          <a:xfrm>
            <a:off x="9052560" y="2542032"/>
            <a:ext cx="197813" cy="237744"/>
          </a:xfrm>
          <a:prstGeom prst="roundRect">
            <a:avLst>
              <a:gd name="adj" fmla="val 13868"/>
            </a:avLst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10835640" y="2514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43,018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52360" y="30175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Funeral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052560" y="3044952"/>
            <a:ext cx="1691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16" name="Shape 13"/>
          <p:cNvSpPr/>
          <p:nvPr/>
        </p:nvSpPr>
        <p:spPr>
          <a:xfrm>
            <a:off x="9052560" y="3044952"/>
            <a:ext cx="111262" cy="237744"/>
          </a:xfrm>
          <a:prstGeom prst="roundRect">
            <a:avLst>
              <a:gd name="adj" fmla="val 24655"/>
            </a:avLst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083564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24,196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611880"/>
            <a:ext cx="10881360" cy="1417320"/>
          </a:xfrm>
          <a:prstGeom prst="roundRect">
            <a:avLst>
              <a:gd name="adj" fmla="val 3871"/>
            </a:avLst>
          </a:prstGeom>
          <a:solidFill>
            <a:srgbClr val="1D212B"/>
          </a:solidFill>
          <a:ln w="12700">
            <a:solidFill>
              <a:srgbClr val="2A2E3A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417320" y="3822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carries the volume and converts better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417320" y="4206240"/>
            <a:ext cx="9738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leads outnumber Device Insurance roughly 9-to-1 (392,074 vs 43,018) and convert at a higher rate (1.14% vs 0.86%). This makes Life the clear priority for headcount, scripting investment, and call-time allocation.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5486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Waiver is the largest contributing campaign by lead volume across both Life and Non-Life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conversion rate — agents with 300+ leads worked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0" y="457200"/>
            <a:ext cx="594360" cy="594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1F5A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TMdlayi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726 leads  ·  603 contacts  ·  100 sales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78240" y="1655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13.77%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782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244144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1F5A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596896"/>
            <a:ext cx="420624" cy="420624"/>
          </a:xfrm>
          <a:prstGeom prst="ellipse">
            <a:avLst/>
          </a:prstGeom>
          <a:solidFill>
            <a:srgbClr val="C0C0C0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417320" y="2532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VKheyiana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824 leads  ·  699 contacts  ·  87 sales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78240" y="2496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10.56%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78240" y="2944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" y="32826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1F5A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438144"/>
            <a:ext cx="420624" cy="420624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417320" y="33741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LMnisi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417320" y="3675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1,041 leads  ·  843 contacts  ·  101 sales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7824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778240" y="3785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" y="41239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1F5A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279392"/>
            <a:ext cx="420624" cy="420624"/>
          </a:xfrm>
          <a:prstGeom prst="ellipse">
            <a:avLst/>
          </a:prstGeom>
          <a:solidFill>
            <a:srgbClr val="2A2E3A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417320" y="4215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PNteso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417320" y="45171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543 leads  ·  436 contacts  ·  50 sales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78240" y="4178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9.21%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8778240" y="46268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" y="496519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1F5A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5120640"/>
            <a:ext cx="420624" cy="420624"/>
          </a:xfrm>
          <a:prstGeom prst="ellipse">
            <a:avLst/>
          </a:prstGeom>
          <a:solidFill>
            <a:srgbClr val="2A2E3A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417320" y="5056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TMaboea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417320" y="5358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784 leads  ·  708 contacts  ·  68 sales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778240" y="5020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8.67%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8778240" y="54681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5 Agents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priority — agents with 300+ leads worked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5A101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55648"/>
            <a:ext cx="420624" cy="420624"/>
          </a:xfrm>
          <a:prstGeom prst="ellipse">
            <a:avLst/>
          </a:prstGeom>
          <a:solidFill>
            <a:srgbClr val="9A001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173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TNhlabathi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9933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1,955 leads  ·  1,779 contacts  ·  24 sales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778240" y="1655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1.23%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782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48640" y="2441448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5A101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2596896"/>
            <a:ext cx="420624" cy="420624"/>
          </a:xfrm>
          <a:prstGeom prst="ellipse">
            <a:avLst/>
          </a:prstGeom>
          <a:solidFill>
            <a:srgbClr val="9A0012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2596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17320" y="2532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FaiMbenzane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417320" y="2834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 leads  ·  464 contacts  ·  7 sales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778240" y="2496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8778240" y="2944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8640" y="3282696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5A101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3438144"/>
            <a:ext cx="420624" cy="420624"/>
          </a:xfrm>
          <a:prstGeom prst="ellipse">
            <a:avLst/>
          </a:prstGeom>
          <a:solidFill>
            <a:srgbClr val="9A0012"/>
          </a:solidFill>
          <a:ln/>
        </p:spPr>
      </p:sp>
      <p:sp>
        <p:nvSpPr>
          <p:cNvPr id="21" name="Text 18"/>
          <p:cNvSpPr/>
          <p:nvPr/>
        </p:nvSpPr>
        <p:spPr>
          <a:xfrm>
            <a:off x="7772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17320" y="337413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PhumNgxikimane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417320" y="3675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1,917 leads  ·  1,763 contacts  ·  21 sales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7824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8778240" y="3785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48640" y="4123944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5A101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7240" y="4279392"/>
            <a:ext cx="420624" cy="420624"/>
          </a:xfrm>
          <a:prstGeom prst="ellipse">
            <a:avLst/>
          </a:prstGeom>
          <a:solidFill>
            <a:srgbClr val="9A0012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" y="4279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17320" y="42153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NokMiambo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417320" y="45171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761 leads  ·  615 contacts  ·  8 sales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778240" y="41788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1.05%</a:t>
            </a:r>
            <a:endParaRPr lang="en-US" sz="2400" dirty="0"/>
          </a:p>
        </p:txBody>
      </p:sp>
      <p:sp>
        <p:nvSpPr>
          <p:cNvPr id="32" name="Text 29"/>
          <p:cNvSpPr/>
          <p:nvPr/>
        </p:nvSpPr>
        <p:spPr>
          <a:xfrm>
            <a:off x="8778240" y="46268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" y="4965192"/>
            <a:ext cx="10881360" cy="731520"/>
          </a:xfrm>
          <a:prstGeom prst="roundRect">
            <a:avLst>
              <a:gd name="adj" fmla="val 7500"/>
            </a:avLst>
          </a:prstGeom>
          <a:solidFill>
            <a:srgbClr val="171A21"/>
          </a:solidFill>
          <a:ln w="12700">
            <a:solidFill>
              <a:srgbClr val="5A101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5120640"/>
            <a:ext cx="420624" cy="420624"/>
          </a:xfrm>
          <a:prstGeom prst="ellipse">
            <a:avLst/>
          </a:prstGeom>
          <a:solidFill>
            <a:srgbClr val="9A0012"/>
          </a:solidFill>
          <a:ln/>
        </p:spPr>
      </p:sp>
      <p:sp>
        <p:nvSpPr>
          <p:cNvPr id="35" name="Text 32"/>
          <p:cNvSpPr/>
          <p:nvPr/>
        </p:nvSpPr>
        <p:spPr>
          <a:xfrm>
            <a:off x="77724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17320" y="50566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CharNkuna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417320" y="5358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397 leads  ·  348 contacts  ·  4 sales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778240" y="5020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1.01%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8778240" y="546811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Disposition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outcomes across qualifying agents (300+ leads)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029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number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06240" y="1764792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7" name="Shape 4"/>
          <p:cNvSpPr/>
          <p:nvPr/>
        </p:nvSpPr>
        <p:spPr>
          <a:xfrm>
            <a:off x="4206240" y="1764792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8B5CF6"/>
          </a:solidFill>
          <a:ln/>
        </p:spPr>
      </p:sp>
      <p:sp>
        <p:nvSpPr>
          <p:cNvPr id="8" name="Text 5"/>
          <p:cNvSpPr/>
          <p:nvPr/>
        </p:nvSpPr>
        <p:spPr>
          <a:xfrm>
            <a:off x="9464040" y="169164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34,092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16712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hangup - No pitch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2240280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11" name="Shape 8"/>
          <p:cNvSpPr/>
          <p:nvPr/>
        </p:nvSpPr>
        <p:spPr>
          <a:xfrm>
            <a:off x="4206240" y="2240280"/>
            <a:ext cx="4580669" cy="237744"/>
          </a:xfrm>
          <a:prstGeom prst="roundRect">
            <a:avLst>
              <a:gd name="adj" fmla="val 11538"/>
            </a:avLst>
          </a:prstGeom>
          <a:solidFill>
            <a:srgbClr val="E2001A"/>
          </a:solidFill>
          <a:ln/>
        </p:spPr>
      </p:sp>
      <p:sp>
        <p:nvSpPr>
          <p:cNvPr id="12" name="Text 9"/>
          <p:cNvSpPr/>
          <p:nvPr/>
        </p:nvSpPr>
        <p:spPr>
          <a:xfrm>
            <a:off x="9464040" y="21671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30,497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264261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Interested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2715768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15" name="Shape 12"/>
          <p:cNvSpPr/>
          <p:nvPr/>
        </p:nvSpPr>
        <p:spPr>
          <a:xfrm>
            <a:off x="4206240" y="2715768"/>
            <a:ext cx="2338023" cy="237744"/>
          </a:xfrm>
          <a:prstGeom prst="roundRect">
            <a:avLst>
              <a:gd name="adj" fmla="val 11538"/>
            </a:avLst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9464040" y="264261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15,566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3118104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not Available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3191256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19" name="Shape 16"/>
          <p:cNvSpPr/>
          <p:nvPr/>
        </p:nvSpPr>
        <p:spPr>
          <a:xfrm>
            <a:off x="4206240" y="3191256"/>
            <a:ext cx="1559683" cy="237744"/>
          </a:xfrm>
          <a:prstGeom prst="roundRect">
            <a:avLst>
              <a:gd name="adj" fmla="val 11538"/>
            </a:avLst>
          </a:prstGeom>
          <a:solidFill>
            <a:srgbClr val="7E8392"/>
          </a:solidFill>
          <a:ln/>
        </p:spPr>
      </p:sp>
      <p:sp>
        <p:nvSpPr>
          <p:cNvPr id="20" name="Text 17"/>
          <p:cNvSpPr/>
          <p:nvPr/>
        </p:nvSpPr>
        <p:spPr>
          <a:xfrm>
            <a:off x="9464040" y="311810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10,384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593592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Hangup - Pitched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206240" y="3666744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23" name="Shape 20"/>
          <p:cNvSpPr/>
          <p:nvPr/>
        </p:nvSpPr>
        <p:spPr>
          <a:xfrm>
            <a:off x="4206240" y="3666744"/>
            <a:ext cx="1133564" cy="237744"/>
          </a:xfrm>
          <a:prstGeom prst="roundRect">
            <a:avLst>
              <a:gd name="adj" fmla="val 11538"/>
            </a:avLst>
          </a:prstGeom>
          <a:solidFill>
            <a:srgbClr val="E2001A"/>
          </a:solidFill>
          <a:ln/>
        </p:spPr>
      </p:sp>
      <p:sp>
        <p:nvSpPr>
          <p:cNvPr id="24" name="Text 21"/>
          <p:cNvSpPr/>
          <p:nvPr/>
        </p:nvSpPr>
        <p:spPr>
          <a:xfrm>
            <a:off x="9464040" y="35935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7,547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406908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206240" y="4142232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27" name="Shape 24"/>
          <p:cNvSpPr/>
          <p:nvPr/>
        </p:nvSpPr>
        <p:spPr>
          <a:xfrm>
            <a:off x="4206240" y="4142232"/>
            <a:ext cx="1033981" cy="237744"/>
          </a:xfrm>
          <a:prstGeom prst="roundRect">
            <a:avLst>
              <a:gd name="adj" fmla="val 11538"/>
            </a:avLst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9464040" y="406908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6,884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4544568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Machine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206240" y="4617720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31" name="Shape 28"/>
          <p:cNvSpPr/>
          <p:nvPr/>
        </p:nvSpPr>
        <p:spPr>
          <a:xfrm>
            <a:off x="4206240" y="4617720"/>
            <a:ext cx="1023317" cy="237744"/>
          </a:xfrm>
          <a:prstGeom prst="roundRect">
            <a:avLst>
              <a:gd name="adj" fmla="val 11538"/>
            </a:avLst>
          </a:prstGeom>
          <a:solidFill>
            <a:srgbClr val="7E8392"/>
          </a:solidFill>
          <a:ln/>
        </p:spPr>
      </p:sp>
      <p:sp>
        <p:nvSpPr>
          <p:cNvPr id="32" name="Text 29"/>
          <p:cNvSpPr/>
          <p:nvPr/>
        </p:nvSpPr>
        <p:spPr>
          <a:xfrm>
            <a:off x="9464040" y="45445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6,813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48640" y="5020056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206240" y="5093208"/>
            <a:ext cx="5120640" cy="237744"/>
          </a:xfrm>
          <a:prstGeom prst="roundRect">
            <a:avLst>
              <a:gd name="adj" fmla="val 11538"/>
            </a:avLst>
          </a:prstGeom>
          <a:solidFill>
            <a:srgbClr val="171A21"/>
          </a:solidFill>
          <a:ln/>
        </p:spPr>
      </p:sp>
      <p:sp>
        <p:nvSpPr>
          <p:cNvPr id="35" name="Shape 32"/>
          <p:cNvSpPr/>
          <p:nvPr/>
        </p:nvSpPr>
        <p:spPr>
          <a:xfrm>
            <a:off x="4206240" y="5093208"/>
            <a:ext cx="693326" cy="237744"/>
          </a:xfrm>
          <a:prstGeom prst="roundRect">
            <a:avLst>
              <a:gd name="adj" fmla="val 11538"/>
            </a:avLst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9464040" y="50200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4,616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562356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D212B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7240" y="57607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Number and Hung-Up outcomes together account for the largest share of worked leads with no sale opportunity — pointing to data quality and early-call retention as coaching priorities.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are telling us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5720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00200"/>
            <a:ext cx="10881360" cy="1161288"/>
          </a:xfrm>
          <a:prstGeom prst="roundRect">
            <a:avLst>
              <a:gd name="adj" fmla="val 4724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92938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E0B">
              <a:alpha val="18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03454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172821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rate is the biggest funnel leak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508760" y="2057400"/>
            <a:ext cx="9738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28.8% of 598,228 leads worked were ever successfully contacted — the single largest drop-off point, ahead of contact-to-RPC and RPC-to-sale.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2889504"/>
            <a:ext cx="10881360" cy="1161288"/>
          </a:xfrm>
          <a:prstGeom prst="roundRect">
            <a:avLst>
              <a:gd name="adj" fmla="val 4724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321868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23844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0175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performance spread between top and bottom agents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508760" y="3346704"/>
            <a:ext cx="9738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TMdlayi converts at 13.77% while CharNkuna sits at 1.01% — a 12.76-point gap among agents who each worked 300+ leads. Closing even half this gap across the bottom 5 would meaningfully lift total sales.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4178808"/>
            <a:ext cx="10881360" cy="1161288"/>
          </a:xfrm>
          <a:prstGeom prst="roundRect">
            <a:avLst>
              <a:gd name="adj" fmla="val 4724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450799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B82F6">
              <a:alpha val="18000"/>
            </a:srgbClr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61314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30682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outconverts Device Insurance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508760" y="4636008"/>
            <a:ext cx="9738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leads (392,074 worked) converted at 1.14% versus 0.86% for Device Insurance (43,018 worked) — Life carries ~9x the volume and a higher conversion rate, making it the priority segment for resourcing.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5468112"/>
            <a:ext cx="10881360" cy="1161288"/>
          </a:xfrm>
          <a:prstGeom prst="roundRect">
            <a:avLst>
              <a:gd name="adj" fmla="val 4724"/>
            </a:avLst>
          </a:prstGeom>
          <a:solidFill>
            <a:srgbClr val="171A21"/>
          </a:solidFill>
          <a:ln w="12700">
            <a:solidFill>
              <a:srgbClr val="2A2E3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79729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>
              <a:alpha val="18000"/>
            </a:srgbClr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590245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59612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“Wrong Number” dominates outcomes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508760" y="5925312"/>
            <a:ext cx="9738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Number is the most frequent disposition among qualifying agents. Combined with Hung-Up outcomes, this represents a large share of worked leads with no sales opportunity — a data quality and retention coaching priority.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E2001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1920240"/>
            <a:ext cx="914400" cy="914400"/>
          </a:xfrm>
          <a:prstGeom prst="roundRect">
            <a:avLst>
              <a:gd name="adj" fmla="val 18000"/>
            </a:avLst>
          </a:prstGeom>
          <a:solidFill>
            <a:srgbClr val="E2001A"/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9202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coaching follow-ups welcome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0" y="4572000"/>
            <a:ext cx="3959352" cy="0"/>
          </a:xfrm>
          <a:prstGeom prst="line">
            <a:avLst/>
          </a:prstGeom>
          <a:noFill/>
          <a:ln w="12700">
            <a:solidFill>
              <a:srgbClr val="2A2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E83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Ison Xperiences  ·  NMS / Multichoice Outbound  ·  May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NMS Campaign Executive Summary — May 2026</dc:title>
  <dc:subject>PptxGenJS Presentation</dc:subject>
  <dc:creator>Ison Xperiences</dc:creator>
  <cp:lastModifiedBy>Ison Xperiences</cp:lastModifiedBy>
  <cp:revision>1</cp:revision>
  <dcterms:created xsi:type="dcterms:W3CDTF">2026-06-17T07:04:45Z</dcterms:created>
  <dcterms:modified xsi:type="dcterms:W3CDTF">2026-06-17T07:04:45Z</dcterms:modified>
</cp:coreProperties>
</file>